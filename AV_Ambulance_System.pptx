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8328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Collision Risk Prediction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CD4"/>
                </a:solidFill>
              </a:rPr>
              <a:t>Autonomous Ambulance System — Data Analytics &amp; ML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743200" cy="457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S.V. Ganesh</a:t>
            </a:r>
            <a:r>
              <a:rPr lang="en-US" sz="1300" dirty="0">
                <a:solidFill>
                  <a:srgbClr val="B0BEC5"/>
                </a:solidFill>
              </a:rPr>
              <a:t>  (23STUCHH010460)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Nadimpalli Raja Sujith Varma</a:t>
            </a:r>
            <a:r>
              <a:rPr lang="en-US" sz="1300" b="1" dirty="0"/>
              <a:t> </a:t>
            </a:r>
            <a:r>
              <a:rPr lang="en-US" sz="1300" dirty="0">
                <a:solidFill>
                  <a:srgbClr val="B0BEC5"/>
                </a:solidFill>
              </a:rPr>
              <a:t>(23STUCHH010477)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Supervisor: </a:t>
            </a:r>
            <a:r>
              <a:rPr lang="en-US" sz="1200" b="1" dirty="0">
                <a:solidFill>
                  <a:srgbClr val="FFFFFF"/>
                </a:solidFill>
              </a:rPr>
              <a:t>Dr. Chandrashekhar 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Dept. of CSE (AI &amp; ML)  •  IcfaiTech IFHE, Hyderabad  •  April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B78B459-F4F1-9A61-D49E-1DD267978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3268" y="785029"/>
            <a:ext cx="3526798" cy="3166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64008" cy="1737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2070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Autonomous Vehicles (AVs)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Use AI and sensor data to navigate without human intervention. Represent the future of transportation with applications from personal mobility to emergency services.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2971800"/>
            <a:ext cx="64008" cy="1737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30815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Autonomous Ambulance System (AAS)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" y="33558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Mission-critical application where minimizing response time and maximizing safety are vital. Operates at SAE Level 4 — highly automated in defined conditions.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97280"/>
            <a:ext cx="64008" cy="1737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28032" y="12070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The Core Challenge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48132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AVs must navigate complex urban traffic safely at speed. Collision Risk Prediction is essential to identify hazardous situations before they occur.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2062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64008" cy="173736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30815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Our Approach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3355848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Data-driven ML model using KITTI dataset features (object density, distance) to classify scenarios as High Risk or Low Risk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</a:rPr>
              <a:t>Develop a data-driven model to predict collision risk in autonomous ambulance systems using features derived from real-world driving datasets — enhancing safety and improving decision-making.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8412480" cy="4572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03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</a:rPr>
              <a:t>Key Research Questions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64008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2587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</a:rPr>
              <a:t>Q1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2651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Can collision risk be predicted using object density and distance information?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51460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514600"/>
            <a:ext cx="64008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587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28032" y="2651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Does a decrease in distance to nearby objects increase likelihood of collision?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5204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520440"/>
            <a:ext cx="64008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</a:rPr>
              <a:t>Q3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657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Does higher traffic density (more surrounding objects) lead to higher risk?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520440"/>
            <a:ext cx="41148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520440"/>
            <a:ext cx="64008" cy="82296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3" name="Text 21"/>
          <p:cNvSpPr/>
          <p:nvPr/>
        </p:nvSpPr>
        <p:spPr>
          <a:xfrm>
            <a:off x="4773168" y="3593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F00"/>
                </a:solidFill>
              </a:rPr>
              <a:t>Q4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28032" y="3657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Can machine learning models effectively classify safe vs. high-risk driving scenarios?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Selection — KITTI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KITTI Vision Benchmark Suite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97A7"/>
                </a:solidFill>
              </a:rPr>
              <a:t>Object Detection Dataset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Widely used for autonomous driving research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5798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Contains labelled driving scene data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5054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LiDAR + stereo camera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Urban traffic environments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500 samples used for efficient processing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051560"/>
            <a:ext cx="4297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91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Data Processing Pipeline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81728" y="1609344"/>
            <a:ext cx="292608" cy="29260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4681728" y="16093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4920" y="15819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Data Wrangling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4920" y="1792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Raw label files → structured DataFrame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81728" y="2267712"/>
            <a:ext cx="292608" cy="29260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4681728" y="2267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240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Cleaning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2450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Remove "DontCare" entries, handle missing values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81728" y="2926080"/>
            <a:ext cx="292608" cy="29260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4681728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898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74920" y="31089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num_objects, min_distance, avg_distance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81728" y="3584448"/>
            <a:ext cx="292608" cy="29260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8" name="Text 26"/>
          <p:cNvSpPr/>
          <p:nvPr/>
        </p:nvSpPr>
        <p:spPr>
          <a:xfrm>
            <a:off x="4681728" y="3584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4920" y="355701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Labelling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74920" y="3767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High Risk (1): dense traffic or very low distance; Low Risk (0): otherwise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81728" y="4242816"/>
            <a:ext cx="292608" cy="292608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32" name="Text 30"/>
          <p:cNvSpPr/>
          <p:nvPr/>
        </p:nvSpPr>
        <p:spPr>
          <a:xfrm>
            <a:off x="4681728" y="42428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42153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Normalization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74920" y="442569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Distance-based features implicitly normalized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Preprocessing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2834640" cy="13716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115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num_objects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2423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468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Number of detected objects in the scene — represents traffic density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1508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Feature Variable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834640" cy="13716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115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min_distance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08960" y="2423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2468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Minimum distance to the closest surrounding object — critical safety indicator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108960" y="1508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Feature Variable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834640" cy="137160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11556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avg_distance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423160"/>
            <a:ext cx="283464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2468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Average distance to all detected objects — overall traffic proximity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0" y="15087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>
                    <a:alpha val="70000"/>
                  </a:srgbClr>
                </a:solidFill>
              </a:rPr>
              <a:t>Feature Variable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3749040"/>
            <a:ext cx="8686800" cy="11887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822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Target Variable: collision_risk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" y="4114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F00"/>
                </a:solidFill>
              </a:rPr>
              <a:t>HIGH RISK (1)</a:t>
            </a:r>
            <a:r>
              <a:rPr lang="en-US" sz="1100" dirty="0">
                <a:solidFill>
                  <a:srgbClr val="FFFFFF"/>
                </a:solidFill>
              </a:rPr>
              <a:t> — Object density is high  OR  distance to nearby object is very low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" y="44074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</a:rPr>
              <a:t>LOW RISK (0)</a:t>
            </a:r>
            <a:r>
              <a:rPr lang="en-US" sz="1100" dirty="0">
                <a:solidFill>
                  <a:srgbClr val="FFFFFF"/>
                </a:solidFill>
              </a:rPr>
              <a:t> — Normal traffic conditions, safe distance maintained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Exploratory Data Analysis (EDA)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Techniques Used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📊  Histogram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Distribution of object counts across scenes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21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📦  Boxplot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min_distance compared across risk categories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797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🔥  Heatmap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Feature correlation matrix (num_objects, distances, risk)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34381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🧩  Confusion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Actual vs predicted classification evaluation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4096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7A7"/>
                </a:solidFill>
              </a:rPr>
              <a:t>⚠️  Outlier Detection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3525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Identifies extreme density / very low distance cases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80560" y="105156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Feature Correlation Insights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4160520" cy="54864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59105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num_objects ↔ collision_risk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43800" y="15910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F00"/>
                </a:solidFill>
              </a:rPr>
              <a:t>+0.65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09160" y="18470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Strong positive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212848"/>
            <a:ext cx="4160520" cy="54864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224942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min_distance ↔ collision_risk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543800" y="2249424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C0"/>
                </a:solidFill>
              </a:rPr>
              <a:t>−0.45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250545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Moderate negative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0" y="2871216"/>
            <a:ext cx="4160520" cy="54864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077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avg_distance ↔ collision_risk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43800" y="29077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46E7A"/>
                </a:solidFill>
              </a:rPr>
              <a:t>−0.22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31638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Weak negative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3529584"/>
            <a:ext cx="4160520" cy="54864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5661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min_distance ↔ avg_distance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543800" y="3566160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6F00"/>
                </a:solidFill>
              </a:rPr>
              <a:t>+0.79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09160" y="38221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Strong positive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17720" y="4187952"/>
            <a:ext cx="4160520" cy="548640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6" name="Text 34"/>
          <p:cNvSpPr/>
          <p:nvPr/>
        </p:nvSpPr>
        <p:spPr>
          <a:xfrm>
            <a:off x="4709160" y="42245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num_objects ↔ min_distance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43800" y="42245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565C0"/>
                </a:solidFill>
              </a:rPr>
              <a:t>−0.47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709160" y="44805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</a:rPr>
              <a:t>Moderate negative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80560" y="4727448"/>
            <a:ext cx="4434840" cy="25603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745736"/>
            <a:ext cx="4251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Key Insight: Object density &amp; min_distance are primary collision risk predictors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&amp; System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822960" cy="82296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Data Collection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KITTI Dataset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44168" y="1371600"/>
            <a:ext cx="82296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1344168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67128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3" name="Text 11"/>
          <p:cNvSpPr/>
          <p:nvPr/>
        </p:nvSpPr>
        <p:spPr>
          <a:xfrm>
            <a:off x="1252728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Preprocessing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52728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Cleaning &amp; Wrangling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76856" y="1371600"/>
            <a:ext cx="822960" cy="82296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2276856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99816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18" name="Text 16"/>
          <p:cNvSpPr/>
          <p:nvPr/>
        </p:nvSpPr>
        <p:spPr>
          <a:xfrm>
            <a:off x="2185416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Feature Eng.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85416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num_objects, distances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9544" y="1371600"/>
            <a:ext cx="822960" cy="822960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9544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32504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3" name="Text 21"/>
          <p:cNvSpPr/>
          <p:nvPr/>
        </p:nvSpPr>
        <p:spPr>
          <a:xfrm>
            <a:off x="3118104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Data Split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118104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Train 80% / Test 20%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42232" y="1371600"/>
            <a:ext cx="822960" cy="822960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6" name="Text 24"/>
          <p:cNvSpPr/>
          <p:nvPr/>
        </p:nvSpPr>
        <p:spPr>
          <a:xfrm>
            <a:off x="4142232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965192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28" name="Text 26"/>
          <p:cNvSpPr/>
          <p:nvPr/>
        </p:nvSpPr>
        <p:spPr>
          <a:xfrm>
            <a:off x="4050792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50792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Random Forest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74920" y="1371600"/>
            <a:ext cx="822960" cy="82296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97880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Training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Fit on training data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07608" y="1371600"/>
            <a:ext cx="822960" cy="82296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36" name="Text 34"/>
          <p:cNvSpPr/>
          <p:nvPr/>
        </p:nvSpPr>
        <p:spPr>
          <a:xfrm>
            <a:off x="6007608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30568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38" name="Text 36"/>
          <p:cNvSpPr/>
          <p:nvPr/>
        </p:nvSpPr>
        <p:spPr>
          <a:xfrm>
            <a:off x="5916168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Evaluation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16168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Acc, Prec, Recall, F1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40296" y="1371600"/>
            <a:ext cx="822960" cy="8229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41" name="Text 39"/>
          <p:cNvSpPr/>
          <p:nvPr/>
        </p:nvSpPr>
        <p:spPr>
          <a:xfrm>
            <a:off x="6940296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763256" y="1719072"/>
            <a:ext cx="91440" cy="54864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43" name="Text 41"/>
          <p:cNvSpPr/>
          <p:nvPr/>
        </p:nvSpPr>
        <p:spPr>
          <a:xfrm>
            <a:off x="6848856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Prediction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48856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New scenario input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872984" y="1371600"/>
            <a:ext cx="822960" cy="82296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46" name="Text 44"/>
          <p:cNvSpPr/>
          <p:nvPr/>
        </p:nvSpPr>
        <p:spPr>
          <a:xfrm>
            <a:off x="7872984" y="1417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781544" y="2240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Risk Output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81544" y="2514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6E7A"/>
                </a:solidFill>
              </a:rPr>
              <a:t>High Risk / Low Risk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 Features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310128"/>
            <a:ext cx="256032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411480" y="336499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num_objects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min_distance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avg_distance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4" name="Text 52"/>
          <p:cNvSpPr/>
          <p:nvPr/>
        </p:nvSpPr>
        <p:spPr>
          <a:xfrm>
            <a:off x="320040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291840" y="3310128"/>
            <a:ext cx="256032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3337560" y="336499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Random Forest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(100 estimators)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Handles non-linearity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D32F2F"/>
          </a:solidFill>
          <a:ln/>
        </p:spPr>
      </p:sp>
      <p:sp>
        <p:nvSpPr>
          <p:cNvPr id="58" name="Text 56"/>
          <p:cNvSpPr/>
          <p:nvPr/>
        </p:nvSpPr>
        <p:spPr>
          <a:xfrm>
            <a:off x="6126480" y="29992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Classes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217920" y="3310128"/>
            <a:ext cx="2560320" cy="1143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6263640" y="3364992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0 → Low 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1 → High Risk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</a:rPr>
              <a:t>Binary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Development — Random Forest Classifier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Why Random Forest?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Handles non-linear relationships in traffic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20391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Ensemble of decision trees → robust predictions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569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Resistant to overfitting with proper tuning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30998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Provides feature importance scores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36301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Interpretable and computationally efficient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4160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74F"/>
                </a:solidFill>
              </a:rPr>
              <a:t>✔ No need for feature scaling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80560" y="105156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Classification Approach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17720" y="1508760"/>
            <a:ext cx="416052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508760"/>
            <a:ext cx="64008" cy="10058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572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</a:rPr>
              <a:t>Class 0 — LOW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1865376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Safe driving scenario. Adequate distance to surroundings, normal traffic density.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651760"/>
            <a:ext cx="4160520" cy="10058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17720" y="2651760"/>
            <a:ext cx="64008" cy="10058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F00"/>
                </a:solidFill>
              </a:rPr>
              <a:t>Class 1 — HIGH RISK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2999232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Hazardous scenario. High object count and/or very low minimum distance detected.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3749040"/>
            <a:ext cx="4160520" cy="1143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8130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</a:rPr>
              <a:t>Sample 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11480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</a:rPr>
              <a:t>Sample 1: 0 → Low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435254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</a:rPr>
              <a:t>Sample 2: 1 → High Risk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459028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F00"/>
                </a:solidFill>
              </a:rPr>
              <a:t>Sample 7: 1 → High Risk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Model Evaluation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1920240" cy="54864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853"/>
                </a:solidFill>
              </a:rPr>
              <a:t>100%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31720" y="1097280"/>
            <a:ext cx="192024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233172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CD4"/>
                </a:solidFill>
              </a:rPr>
              <a:t>1.00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3317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097280"/>
            <a:ext cx="192024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A1B9A"/>
                </a:solidFill>
              </a:rPr>
              <a:t>1.00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3891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Recall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1097280"/>
            <a:ext cx="19202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097280"/>
            <a:ext cx="192024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12344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6F00"/>
                </a:solidFill>
              </a:rPr>
              <a:t>1.00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46520" y="16002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</a:rPr>
              <a:t>F1-Score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488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240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Classification Report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606040"/>
          <a:ext cx="3749040" cy="1158240"/>
        </p:xfrm>
        <a:graphic>
          <a:graphicData uri="http://schemas.openxmlformats.org/drawingml/2006/table">
            <a:tbl>
              <a:tblPr/>
              <a:tblGrid>
                <a:gridCol w="749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Support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 (Low Risk)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 (High Risk)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11480" y="37947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Cross-validation Scores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20040" y="4096512"/>
            <a:ext cx="3749040" cy="5486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3"/>
          <p:cNvSpPr/>
          <p:nvPr/>
        </p:nvSpPr>
        <p:spPr>
          <a:xfrm>
            <a:off x="411480" y="4160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53"/>
                </a:solidFill>
              </a:rPr>
              <a:t>[1.0  1.0  1.0  1.0  1.0]  →  Average: 1.0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343400" y="2148840"/>
            <a:ext cx="452628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480560" y="22402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Evaluation Setup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480560" y="26334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74F"/>
                </a:solidFill>
              </a:rPr>
              <a:t>Train / Test Split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480560" y="2907792"/>
            <a:ext cx="2889504" cy="38404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1" name="Shape 28"/>
          <p:cNvSpPr/>
          <p:nvPr/>
        </p:nvSpPr>
        <p:spPr>
          <a:xfrm>
            <a:off x="7370064" y="2907792"/>
            <a:ext cx="1316736" cy="384048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2" name="Text 29"/>
          <p:cNvSpPr/>
          <p:nvPr/>
        </p:nvSpPr>
        <p:spPr>
          <a:xfrm>
            <a:off x="4526280" y="29443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Train: 80%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388352" y="2944368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Test: 20%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462272" y="3429000"/>
            <a:ext cx="4297680" cy="566928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5" name="Shape 32"/>
          <p:cNvSpPr/>
          <p:nvPr/>
        </p:nvSpPr>
        <p:spPr>
          <a:xfrm>
            <a:off x="4462272" y="3429000"/>
            <a:ext cx="64008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6" name="Text 33"/>
          <p:cNvSpPr/>
          <p:nvPr/>
        </p:nvSpPr>
        <p:spPr>
          <a:xfrm>
            <a:off x="4617720" y="34747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Cross-Validation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617720" y="37033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5-fold CV validates model on different data subsets to confirm generalization.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462272" y="4114800"/>
            <a:ext cx="4297680" cy="566928"/>
          </a:xfrm>
          <a:prstGeom prst="rect">
            <a:avLst/>
          </a:prstGeom>
          <a:solidFill>
            <a:srgbClr val="F5F9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462272" y="4114800"/>
            <a:ext cx="64008" cy="56692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0" name="Text 37"/>
          <p:cNvSpPr/>
          <p:nvPr/>
        </p:nvSpPr>
        <p:spPr>
          <a:xfrm>
            <a:off x="4617720" y="41605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Hyperparameter Tuning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617720" y="438912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</a:rPr>
              <a:t>Optimizes number of trees, depth, and split criteria for best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 &amp;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Confusion Matrix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1280160" cy="10058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True Negative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828800"/>
            <a:ext cx="1280160" cy="100584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182880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6E7A"/>
                </a:solidFill>
              </a:rPr>
              <a:t>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46E7A"/>
                </a:solidFill>
              </a:rPr>
              <a:t>False Positive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05840" y="2834640"/>
            <a:ext cx="1280160" cy="1005840"/>
          </a:xfrm>
          <a:prstGeom prst="rect">
            <a:avLst/>
          </a:prstGeom>
          <a:solidFill>
            <a:srgbClr val="CFD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46E7A"/>
                </a:solidFill>
              </a:rPr>
              <a:t>0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546E7A"/>
                </a:solidFill>
              </a:rPr>
              <a:t>False Negative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2834640"/>
            <a:ext cx="1280160" cy="1005840"/>
          </a:xfrm>
          <a:prstGeom prst="rect">
            <a:avLst/>
          </a:prstGeom>
          <a:solidFill>
            <a:srgbClr val="00C853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2834640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27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True Positive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1600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Predicted 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48840" y="160020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46E7A"/>
                </a:solidFill>
              </a:rPr>
              <a:t>Predicted 1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8600" y="2148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Actual 0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8600" y="3154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46E7A"/>
                </a:solidFill>
              </a:rPr>
              <a:t>Actual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0040" y="39776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3"/>
                </a:solidFill>
              </a:rPr>
              <a:t>AUC-ROC = 1.00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C853"/>
                </a:solidFill>
              </a:rPr>
              <a:t>Perfect separation achieved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051560"/>
            <a:ext cx="44348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11155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Feature Importance &amp; Key Insights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15361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min_distance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1563624"/>
            <a:ext cx="713232" cy="2011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7251192" y="156362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</a:rPr>
              <a:t>52%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17720" y="21305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num_objects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2157984"/>
            <a:ext cx="493776" cy="2011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7031736" y="215798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</a:rPr>
              <a:t>36%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17720" y="27249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</a:rPr>
              <a:t>avg_distance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2752344"/>
            <a:ext cx="164592" cy="20116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275234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</a:rPr>
              <a:t>12%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337560"/>
            <a:ext cx="4160520" cy="45720"/>
          </a:xfrm>
          <a:prstGeom prst="rect">
            <a:avLst/>
          </a:prstGeom>
          <a:solidFill>
            <a:srgbClr val="00BCD4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34564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→ Lower min_distance = highest collision risk signal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17720" y="383133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→ ML outperforms simple rule-based threshold methods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4206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→ Perfect AUC = 1.0 (complete class separation achieved)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58114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74F"/>
                </a:solidFill>
              </a:rPr>
              <a:t>→ Model is efficient and deployable in real-time systems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Work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Simplified Risk Labelling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9260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46120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Lack of Temporal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29260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72200" y="11155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Absence of Sensor Fusion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29260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5740" y="3880414"/>
            <a:ext cx="8686800" cy="1171646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1330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142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Real-time sensor &amp; V2X data integration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4142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LSTM / temporal modeling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Multi-sensor fusion (LiDAR + camera)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4714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Deep learning for higher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"/>
            <a:ext cx="4114800" cy="4114800"/>
          </a:xfrm>
          <a:prstGeom prst="ellipse">
            <a:avLst/>
          </a:prstGeom>
          <a:solidFill>
            <a:srgbClr val="00BCD4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914400"/>
            <a:ext cx="2743200" cy="2743200"/>
          </a:xfrm>
          <a:prstGeom prst="ellipse">
            <a:avLst/>
          </a:prstGeom>
          <a:solidFill>
            <a:srgbClr val="00BCD4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572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286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98448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075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298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Successfully built a data-driven collision risk prediction model using the KITTI dataset.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938528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476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93852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Random Forest achieved 100% accuracy — perfect precision, recall, and F1-score.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58775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5786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Minimum distance and object density are the most critical collision risk predictors.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218688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2783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2186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Results validated using confusion matrix, ROC (AUC = 1.0), and cross-validation.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3858768"/>
            <a:ext cx="256032" cy="256032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86791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✔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587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Demonstrates the power of data analytics in enhancing AV decision-layer safety.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4572000"/>
            <a:ext cx="5120640" cy="4114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617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This work lays the foundation for real-time, sensor-fused AV safety systems.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Thank You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CD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1108</Words>
  <Application>Microsoft Office PowerPoint</Application>
  <PresentationFormat>On-screen Show (16:9)</PresentationFormat>
  <Paragraphs>246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Collision Risk Prediction</dc:title>
  <dc:subject>PptxGenJS Presentation</dc:subject>
  <dc:creator>PptxGenJS</dc:creator>
  <cp:lastModifiedBy>nrajasvarma2005@gmail.com</cp:lastModifiedBy>
  <cp:revision>3</cp:revision>
  <dcterms:created xsi:type="dcterms:W3CDTF">2026-04-10T17:53:55Z</dcterms:created>
  <dcterms:modified xsi:type="dcterms:W3CDTF">2026-04-10T18:31:51Z</dcterms:modified>
</cp:coreProperties>
</file>